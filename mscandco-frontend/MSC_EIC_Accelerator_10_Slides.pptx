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C8C8C8"/>
                </a:solidFill>
              </a:defRPr>
            </a:pPr>
            <a:r>
              <a:t>(01)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667EEA"/>
                </a:solidFill>
              </a:defRPr>
            </a:pPr>
            <a:r>
              <a:t>MSC &amp; 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AUDIOMSC LTD • Company No. 13250829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6800" b="1">
                <a:solidFill>
                  <a:srgbClr val="667EEA"/>
                </a:solidFill>
              </a:defRPr>
            </a:pPr>
            <a:r>
              <a:t>AI-Native Climate-Positive</a:t>
            </a:r>
          </a:p>
          <a:p>
            <a:r>
              <a:t>Music Distribution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/>
            </a:pPr>
            <a:r>
              <a:t>🌍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Real-time carbon attribution in music streaming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5029200" y="41148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/>
            </a:pPr>
            <a:r>
              <a:t>⛓️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Blockchain-verified royalty transparency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9418319" y="41148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/>
            </a:pPr>
            <a:r>
              <a:t>🤖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Conversational AI for distribution automation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3200400" y="6583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€1.8M EIC Accelerator Grant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1323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Legacy platforms: 15-30% commission FOREVER • No carbon tracking • No blockchain transparency • Zero AI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C8C8C8"/>
                </a:solidFill>
              </a:defRPr>
            </a:pPr>
            <a:r>
              <a:t>(02)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Market Opportunity: €28.6B Industry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700"/>
                </a:solidFill>
              </a:defRPr>
            </a:pPr>
            <a:r>
              <a:t>Independent Artists Face Systemic Exploitation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💰</a:t>
            </a:r>
          </a:p>
          <a:p>
            <a:pPr algn="ctr">
              <a:defRPr sz="5200" b="1">
                <a:solidFill>
                  <a:srgbClr val="667EEA"/>
                </a:solidFill>
              </a:defRPr>
            </a:pPr>
            <a:r>
              <a:t>€8.5B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Independent Artist Market</a:t>
            </a:r>
          </a:p>
          <a:p>
            <a:pPr algn="ctr">
              <a:defRPr sz="1800">
                <a:solidFill>
                  <a:srgbClr val="C8C8C8"/>
                </a:solidFill>
              </a:defRPr>
            </a:pPr>
            <a:r>
              <a:t>40% of streaming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🎵</a:t>
            </a:r>
          </a:p>
          <a:p>
            <a:pPr algn="ctr">
              <a:defRPr sz="5200" b="1">
                <a:solidFill>
                  <a:srgbClr val="667EEA"/>
                </a:solidFill>
              </a:defRPr>
            </a:pPr>
            <a:r>
              <a:t>8.5M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Artists Trapped</a:t>
            </a:r>
          </a:p>
          <a:p>
            <a:pPr algn="ctr">
              <a:defRPr sz="1800">
                <a:solidFill>
                  <a:srgbClr val="C8C8C8"/>
                </a:solidFill>
              </a:defRPr>
            </a:pPr>
            <a:r>
              <a:t>Between Exploitation &amp; Impossibility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📈</a:t>
            </a:r>
          </a:p>
          <a:p>
            <a:pPr algn="ctr">
              <a:defRPr sz="5200" b="1">
                <a:solidFill>
                  <a:srgbClr val="667EEA"/>
                </a:solidFill>
              </a:defRPr>
            </a:pPr>
            <a:r>
              <a:t>15%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YoY Growth</a:t>
            </a:r>
          </a:p>
          <a:p>
            <a:pPr algn="ctr">
              <a:defRPr sz="1800">
                <a:solidFill>
                  <a:srgbClr val="C8C8C8"/>
                </a:solidFill>
              </a:defRPr>
            </a:pPr>
            <a:r>
              <a:t>Independent Sector (2x Overall Market)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572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🌡️</a:t>
            </a:r>
          </a:p>
          <a:p>
            <a:pPr algn="ctr">
              <a:defRPr sz="5200" b="1">
                <a:solidFill>
                  <a:srgbClr val="667EEA"/>
                </a:solidFill>
              </a:defRPr>
            </a:pPr>
            <a:r>
              <a:t>300M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Tonnes CO₂/Year</a:t>
            </a:r>
          </a:p>
          <a:p>
            <a:pPr algn="ctr">
              <a:defRPr sz="1800">
                <a:solidFill>
                  <a:srgbClr val="C8C8C8"/>
                </a:solidFill>
              </a:defRPr>
            </a:pPr>
            <a:r>
              <a:t>ZERO Platforms Track Emissions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C8C8C8"/>
                </a:solidFill>
              </a:defRPr>
            </a:pPr>
            <a:r>
              <a:t>(03)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18-24 Month Technology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700"/>
                </a:solidFill>
              </a:defRPr>
            </a:pPr>
            <a:r>
              <a:t>First-Mover Advantage in Three Breakthrough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🚀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First MCP-Native Platform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Built on Model Context Protocol (Anthropic, 2024). Competitors stuck on 20-year-old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🤖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181 MCP Tools Live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Complete distribution automation. Competitors have ZERO conversational AI capabilities.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✅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85% Complete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Production-ready platform. Launch in 90 days post-funding, not 18-24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572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🎯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Apollo Intelligence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Live conversational AI. Hit prediction, fraud detection, automated KYC compliance.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858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Traditional Platforms</a:t>
            </a:r>
          </a:p>
          <a:p>
            <a:pPr algn="ctr">
              <a:defRPr sz="5600" b="1">
                <a:solidFill>
                  <a:srgbClr val="FF6B6B"/>
                </a:solidFill>
              </a:defRPr>
            </a:pPr>
            <a:r>
              <a:t>4 HOURS</a:t>
            </a:r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15 forms • Manual • No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858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858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MSC &amp; Co (MCP-Native)</a:t>
            </a:r>
          </a:p>
          <a:p>
            <a:pPr algn="ctr">
              <a:defRPr sz="5600" b="1">
                <a:solidFill>
                  <a:srgbClr val="51CF66"/>
                </a:solidFill>
              </a:defRPr>
            </a:pPr>
            <a:r>
              <a:t>5 MINUTES</a:t>
            </a:r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One conversation • Apollo AI • Automated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C8C8C8"/>
                </a:solidFill>
              </a:defRPr>
            </a:pPr>
            <a:r>
              <a:t>(04)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First Climate-Positive Music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700"/>
                </a:solidFill>
              </a:defRPr>
            </a:pPr>
            <a:r>
              <a:t>Leading the Music Industry's Green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114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🌍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Real-Time Carbon Tracking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Per-stream emissions using DIMPACT 2024 methodology. No competitor has this capability.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286000"/>
            <a:ext cx="4114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🤝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Earth/Percent Partnership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Founded by Massive Attack &amp; Brian Eno. Automatic royalty donations to climate action projects.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2286000"/>
            <a:ext cx="4114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♻️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Carbon Offset Marketplace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5 verified providers integrated: Gold Standard, Verra, Ecologi, Pachama, Climeworks.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1188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5-YEAR COMPETITIVE MOAT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Competitors would need complete platform rebuild to match sustainability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C8C8C8"/>
                </a:solidFill>
              </a:defRPr>
            </a:pPr>
            <a:r>
              <a:t>(05)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Blockchain-Verified Royalty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700"/>
                </a:solidFill>
              </a:defRPr>
            </a:pPr>
            <a:r>
              <a:t>Cryptographic Proof &gt;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🔒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IMMUTABLE</a:t>
            </a:r>
            <a:br/>
            <a:r>
              <a:t>Royalty Records on Polygon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Every payment recorded on blockchain. Artists independently verify earnings without trusting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💎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99.97%</a:t>
            </a:r>
            <a:br/>
            <a:r>
              <a:t>Cheaper Than Ethereum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$0.005 per transaction using Polygon. Ethereum would cost $200+ per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🤝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SMART</a:t>
            </a:r>
            <a:br/>
            <a:r>
              <a:t>Contract Revenue Splits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Automated distribution to collaborators. No manual calculations. Transparent waterfall visualization.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572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✅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PROOF</a:t>
            </a:r>
            <a:br/>
            <a:r>
              <a:t>Not Trust Required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Artists get cryptographic proof of earnings. Audit trail viewable by anyone. Zero competitors have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713232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 i="1">
                <a:solidFill>
                  <a:srgbClr val="FFFFFF"/>
                </a:solidFill>
              </a:defRPr>
            </a:pPr>
            <a:r>
              <a:t>The music industry has a $2.5B trust problem. We solve it with cryptographic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C8C8C8"/>
                </a:solidFill>
              </a:defRPr>
            </a:pPr>
            <a:r>
              <a:t>(06)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European Champion: Digital Sovereignty +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700"/>
                </a:solidFill>
              </a:defRPr>
            </a:pPr>
            <a:r>
              <a:t>Building EU's First Music Tech Unicorn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🇪🇺 Digital Sovereignty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100% EU data infrastructure (Frankfurt/Amsterdam)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Alternative to US-dominated market (DistroKid/TuneCore)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All data in EU datacenters (Supabase EU)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Zero transfers to non-EU jurisdictions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💼 Job Creation Targets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Year 1-2: 15 direct hires (UK engineering, ops)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Year 3-5: 50 hires (Berlin, Amsterdam offices)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Year 5: 1,000+ sustainable creative jobs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Indirect: 200+ jobs (engineers, curators)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⚖️ Regulatory Leadership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First platform with full EU regulatory stack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GDPR-native (privacy by design)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DSA-ready (content moderation)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EU AI Act pioneer (compliance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572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🔬 Research Contribution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Open data API for academic research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Training ground for EU AI talent (MCP dev)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Climate-tech + music-tech convergence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✓ Built on European open-source (PostgreSQL)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C8C8C8"/>
                </a:solidFill>
              </a:defRPr>
            </a:pPr>
            <a:r>
              <a:t>(07)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Business Model: €170M Revenue by Year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700"/>
                </a:solidFill>
              </a:defRPr>
            </a:pPr>
            <a:r>
              <a:t>Progressive Economics Aligned with Artist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20%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Starting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468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>
                <a:solidFill>
                  <a:srgbClr val="C8C8C8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15%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Growing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>
                <a:solidFill>
                  <a:srgbClr val="C8C8C8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10%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468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>
                <a:solidFill>
                  <a:srgbClr val="C8C8C8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2.5%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Top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👥 Artists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</a:defRPr>
            </a:pPr>
            <a:r>
              <a:t>500,000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72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📊 Annual Streams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</a:defRPr>
            </a:pPr>
            <a:r>
              <a:t>48 Billion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29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💰 Commission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5029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</a:defRPr>
            </a:pPr>
            <a:r>
              <a:t>€48M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486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🏢 White-Label B2B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5486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</a:defRPr>
            </a:pPr>
            <a:r>
              <a:t>€40M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📱 Subscriptions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5943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</a:defRPr>
            </a:pPr>
            <a:r>
              <a:t>€60M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⭐ Premium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</a:defRPr>
            </a:pPr>
            <a:r>
              <a:t>€15M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858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💎 TOTAL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858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51CF66"/>
                </a:solidFill>
              </a:defRPr>
            </a:pPr>
            <a:r>
              <a:t>€170M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C8C8C8"/>
                </a:solidFill>
              </a:defRPr>
            </a:pPr>
            <a:r>
              <a:t>(08)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Why EIC Grant? High-Risk R&amp;D VCs Won't 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700"/>
                </a:solidFill>
              </a:defRPr>
            </a:pPr>
            <a:r>
              <a:t>Three Unsolved Problems Requiring Patient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🌍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Public Good Innovation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Carbon tracking methodology becomes industry standard • Open data API for research • Benefits entire music ecosystem, not just MSC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🔬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Pre-Competitive R&amp;D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Sustainability measurement = unsolved problem • Blockchain adoption faces massive industry resistance • No proven commercial methodology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📊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Infrastructure-Heavy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70%+ margins only at scale (Year 3+) • Sustainability compliance adds costs without immediate ROI • 24-month payback too long for early-stage VCs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572000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⚖️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Regulatory Complexity</a:t>
            </a:r>
          </a:p>
          <a:p>
            <a:pPr algn="l">
              <a:defRPr sz="1800">
                <a:solidFill>
                  <a:srgbClr val="C8C8C8"/>
                </a:solidFill>
              </a:defRPr>
            </a:pPr>
            <a:r>
              <a:t>GDPR/DSA/AI Act compliance requires legal resources • Multi-jurisdiction licensing (29 countries) • Carbon accounting standards still emerging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C8C8C8"/>
                </a:solidFill>
              </a:defRPr>
            </a:pPr>
            <a:r>
              <a:t>(09)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Use of Funds: €1.8M Over 24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700"/>
                </a:solidFill>
              </a:defRPr>
            </a:pPr>
            <a:r>
              <a:t>Strategic Allocation Across Six Innovation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30%  €540K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🌍 Sustainability R&amp;D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• Carbon tracking engine (DIMPACT 2024)</a:t>
            </a:r>
            <a:br/>
            <a:r>
              <a:t>• Earth/Percent integration</a:t>
            </a:r>
            <a:br/>
            <a:r>
              <a:t>• Offset marketplace (5 providers)</a:t>
            </a:r>
            <a:br/>
            <a:r>
              <a:t>• Academic research 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2860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20%  €360K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⛓️ Blockchain Infrastructure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• Polygon smart contracts</a:t>
            </a:r>
            <a:br/>
            <a:r>
              <a:t>• Royalty verification system</a:t>
            </a:r>
            <a:br/>
            <a:r>
              <a:t>• NFT functionality</a:t>
            </a:r>
            <a:br/>
            <a:r>
              <a:t>• Copyright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2860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20%  €360K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🤖 AI &amp; Automation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• 181 MCP tools completion</a:t>
            </a:r>
            <a:br/>
            <a:r>
              <a:t>• Hit prediction + fraud detection</a:t>
            </a:r>
            <a:br/>
            <a:r>
              <a:t>• Apollo Intelligence enhancement</a:t>
            </a:r>
            <a:br/>
            <a:r>
              <a:t>• 15-language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15%  €270K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🌐 Distribution Partnerships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• 150+ platform API integrations</a:t>
            </a:r>
            <a:br/>
            <a:r>
              <a:t>• Geographic expansion (Africa, LatAm)</a:t>
            </a:r>
            <a:br/>
            <a:r>
              <a:t>• White-label B2B development</a:t>
            </a:r>
            <a:br/>
            <a:r>
              <a:t>• Enterprise client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8463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10%  €180K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⚖️ Compliance &amp; Legal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• EU regulatory compliance</a:t>
            </a:r>
            <a:br/>
            <a:r>
              <a:t>• Patent applications (MCP + carbon)</a:t>
            </a:r>
            <a:br/>
            <a:r>
              <a:t>• B-Corp certification</a:t>
            </a:r>
            <a:br/>
            <a:r>
              <a:t>• Trademark registrations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48463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5%  €90K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🏢 Operations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• Core team recruitment</a:t>
            </a:r>
            <a:br/>
            <a:r>
              <a:t>• Technical infrastructure</a:t>
            </a:r>
            <a:br/>
            <a:r>
              <a:t>• Contingency buffer</a:t>
            </a:r>
            <a:br/>
            <a:r>
              <a:t>• Office setup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C8C8C8"/>
                </a:solidFill>
              </a:defRPr>
            </a:pPr>
            <a:r>
              <a:t>(10)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Team &amp; Roadmap: From 85% → Market Leader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700"/>
                </a:solidFill>
              </a:defRPr>
            </a:pPr>
            <a:r>
              <a:t>World-Class Team • Proven Track Record • Clear 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3167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A0E27"/>
                </a:solidFill>
              </a:defRPr>
            </a:pPr>
            <a:r>
              <a:t>👑 Founder &amp; CEO: Henry Taylor</a:t>
            </a:r>
          </a:p>
          <a:p>
            <a:pPr>
              <a:lnSpc>
                <a:spcPct val="130000"/>
              </a:lnSpc>
              <a:defRPr sz="1400">
                <a:solidFill>
                  <a:srgbClr val="0A0E27"/>
                </a:solidFill>
              </a:defRPr>
            </a:pPr>
            <a:r>
              <a:t>14+ years gospel music industry experience • Organized Kingdom World Tour (Kirk Franklin, Maverick City Music) • BSc Biomedical Science + MRes Allied Medicine (LSE Distinction) • Full-stack developer (Next.js, React, PostgreSQL, AI integration) • Published world's first MCP server for music distribution • Festival of Life 2026 at The O2 Arena</a:t>
            </a:r>
          </a:p>
          <a:p>
            <a:pPr>
              <a:lnSpc>
                <a:spcPct val="130000"/>
              </a:lnSpc>
              <a:defRPr sz="1400">
                <a:solidFill>
                  <a:srgbClr val="0A0E27"/>
                </a:solidFill>
              </a:defRPr>
            </a:pPr>
          </a:p>
          <a:p>
            <a:pPr>
              <a:lnSpc>
                <a:spcPct val="130000"/>
              </a:lnSpc>
              <a:defRPr sz="1400">
                <a:solidFill>
                  <a:srgbClr val="0A0E27"/>
                </a:solidFill>
              </a:defRPr>
            </a:pPr>
            <a:r>
              <a:t>Leadership Team Post-Funding (€280K Allocated):</a:t>
            </a:r>
          </a:p>
          <a:p>
            <a:pPr>
              <a:lnSpc>
                <a:spcPct val="130000"/>
              </a:lnSpc>
              <a:defRPr sz="1400">
                <a:solidFill>
                  <a:srgbClr val="0A0E27"/>
                </a:solidFill>
              </a:defRPr>
            </a:pPr>
            <a:r>
              <a:t>💻 Feranmi Ogun - CTO &amp; Technical Co-Founder</a:t>
            </a:r>
          </a:p>
          <a:p>
            <a:pPr>
              <a:lnSpc>
                <a:spcPct val="130000"/>
              </a:lnSpc>
              <a:defRPr sz="1400">
                <a:solidFill>
                  <a:srgbClr val="0A0E27"/>
                </a:solidFill>
              </a:defRPr>
            </a:pPr>
            <a:r>
              <a:t>⚖️ Feyi Ogunseyinde - Head of Regulatory Compliance &amp; Finance</a:t>
            </a:r>
          </a:p>
          <a:p>
            <a:pPr>
              <a:lnSpc>
                <a:spcPct val="130000"/>
              </a:lnSpc>
              <a:defRPr sz="1400">
                <a:solidFill>
                  <a:srgbClr val="0A0E27"/>
                </a:solidFill>
              </a:defRPr>
            </a:pPr>
            <a:r>
              <a:t>🤝 Solomon Ade - Head of Commercial Partnerships &amp; Distribution</a:t>
            </a:r>
          </a:p>
          <a:p>
            <a:pPr>
              <a:lnSpc>
                <a:spcPct val="130000"/>
              </a:lnSpc>
              <a:defRPr sz="1400">
                <a:solidFill>
                  <a:srgbClr val="0A0E27"/>
                </a:solidFill>
              </a:defRPr>
            </a:pPr>
            <a:r>
              <a:t>🎨 Imisi Aina - VP of Product &amp; Design</a:t>
            </a:r>
          </a:p>
          <a:p>
            <a:pPr>
              <a:lnSpc>
                <a:spcPct val="130000"/>
              </a:lnSpc>
              <a:defRPr sz="1400">
                <a:solidFill>
                  <a:srgbClr val="0A0E27"/>
                </a:solidFill>
              </a:defRPr>
            </a:pPr>
            <a:r>
              <a:t>📢 Rebecca Taylor - Head of Marketing &amp; Artist Growth</a:t>
            </a:r>
          </a:p>
          <a:p>
            <a:pPr>
              <a:lnSpc>
                <a:spcPct val="130000"/>
              </a:lnSpc>
              <a:defRPr sz="1400">
                <a:solidFill>
                  <a:srgbClr val="0A0E27"/>
                </a:solidFill>
              </a:defRPr>
            </a:pPr>
            <a:r>
              <a:t>🚀 Opeyemi Kon Ajayi - Head of Engineering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Q1 2026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🚀 LAUNCH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• Complete platform</a:t>
            </a:r>
            <a:br/>
            <a:r>
              <a:t>• 50-200 beta artists</a:t>
            </a:r>
            <a:br/>
            <a:r>
              <a:t>• Distribution APIs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4864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Q2 2026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5K ARTISTS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• Public launch</a:t>
            </a:r>
            <a:br/>
            <a:r>
              <a:t>• Church network activated</a:t>
            </a:r>
            <a:br/>
            <a:r>
              <a:t>• £1M ARR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4864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2027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75K ARTISTS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• €29M revenue</a:t>
            </a:r>
            <a:br/>
            <a:r>
              <a:t>• Series A funding secured</a:t>
            </a:r>
            <a:br/>
            <a:r>
              <a:t>• International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59" y="54864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2030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🏆 500K ARTISTS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• €170M revenue</a:t>
            </a:r>
            <a:br/>
            <a:r>
              <a:t>• Carbon-neutral certified</a:t>
            </a:r>
            <a:br/>
            <a:r>
              <a:t>• B-Corp status</a:t>
            </a:r>
            <a:br/>
            <a:r>
              <a:t>• Market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731520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🚀 85% Complete Platform → 90-Day Launch → 18-24 Month Tech Lead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📧 info@htay.co.uk | 📱 +447530005553 | 🌐 staging.mscandco.com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